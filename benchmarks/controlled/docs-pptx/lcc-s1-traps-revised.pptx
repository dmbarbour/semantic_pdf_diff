
<file path=[Content_Types].xml><?xml version="1.0" encoding="utf-8"?>
<Types xmlns="http://schemas.openxmlformats.org/package/2006/content-types">
  <Default Extension="rels" ContentType="application/vnd.openxmlformats-package.relationships+xml"/>
  <Default Extension="xml" ContentType="application/xml"/>
  <Default Extension="emf" ContentType="image/x-emf"/>
  <Default Extension="jpeg" ContentType="image/jpeg"/>
  <Default Extension="png" ContentType="image/png"/>
  <Default Extension="wmf" ContentType="image/x-wmf"/>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p="http://schemas.openxmlformats.org/presentationml/2006/main" xmlns:a="http://schemas.openxmlformats.org/drawingml/2006/main" xmlns:r="http://schemas.openxmlformats.org/officeDocument/2006/relationships">
  <p:sldIdLst>
    <p:sldId id="256" r:id="rId1"/>
    <p:sldId id="257" r:id="rId2"/>
    <p:sldId id="258" r:id="rId3"/>
    <p:sldId id="259" r:id="rId4"/>
    <p:sldId id="260" r:id="rId5"/>
    <p:sldId id="261" r:id="rId6"/>
    <p:sldId id="262" r:id="rId7"/>
  </p:sldIdLst>
  <p:sldSz cx="12192000" cy="6858000"/>
  <p:notesSz cx="6858000" cy="9144000"/>
</p:presentation>
</file>

<file path=ppt/_rels/presentation.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slide" Target="slides/slide2.xml"/><Relationship Id="rId3" Type="http://schemas.openxmlformats.org/officeDocument/2006/relationships/slide" Target="slides/slide3.xml"/><Relationship Id="rId4" Type="http://schemas.openxmlformats.org/officeDocument/2006/relationships/slide" Target="slides/slide4.xml"/><Relationship Id="rId5" Type="http://schemas.openxmlformats.org/officeDocument/2006/relationships/slide" Target="slides/slide5.xml"/><Relationship Id="rId6" Type="http://schemas.openxmlformats.org/officeDocument/2006/relationships/slide" Target="slides/slide6.xml"/><Relationship Id="rId7" Type="http://schemas.openxmlformats.org/officeDocument/2006/relationships/slide" Target="slides/slide7.xml"/></Relationships>
</file>

<file path=ppt/slides/_rels/slide1.xml.rels><?xml version="1.0" encoding="UTF-8" standalone="yes"?>
<Relationships xmlns="http://schemas.openxmlformats.org/package/2006/relationships"></Relationships>
</file>

<file path=ppt/slides/_rels/slide2.xml.rels><?xml version="1.0" encoding="UTF-8" standalone="yes"?>
<Relationships xmlns="http://schemas.openxmlformats.org/package/2006/relationships"></Relationships>
</file>

<file path=ppt/slides/_rels/slide3.xml.rels><?xml version="1.0" encoding="UTF-8" standalone="yes"?>
<Relationships xmlns="http://schemas.openxmlformats.org/package/2006/relationships"></Relationships>
</file>

<file path=ppt/slides/_rels/slide4.xml.rels><?xml version="1.0" encoding="UTF-8" standalone="yes"?>
<Relationships xmlns="http://schemas.openxmlformats.org/package/2006/relationships"></Relationships>
</file>

<file path=ppt/slides/_rels/slide5.xml.rels><?xml version="1.0" encoding="UTF-8" standalone="yes"?>
<Relationships xmlns="http://schemas.openxmlformats.org/package/2006/relationships"></Relationships>
</file>

<file path=ppt/slides/_rels/slide6.xml.rels><?xml version="1.0" encoding="UTF-8" standalone="yes"?>
<Relationships xmlns="http://schemas.openxmlformats.org/package/2006/relationships"></Relationships>
</file>

<file path=ppt/slides/_rels/slide7.xml.rels><?xml version="1.0" encoding="UTF-8" standalone="yes"?>
<Relationships xmlns="http://schemas.openxmlformats.org/package/2006/relationships"></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p:sp>
        <p:nvSpPr>
          <p:cNvPr id="2" name="Shape 2"/>
          <p:cNvSpPr/>
          <p:nvPr>
            <p:ph type="title"/>
          </p:nvPr>
        </p:nvSpPr>
        <p:spPr>
          <a:xfrm>
            <a:off x="457200" y="365125"/>
            <a:ext cx="11277600" cy="914400"/>
          </a:xfrm>
          <a:prstGeom prst="rect">
            <a:avLst/>
          </a:prstGeom>
        </p:spPr>
        <p:txBody>
          <a:bodyPr wrap="square"/>
          <a:lstStyle/>
          <a:p>
            <a:r>
              <a:rPr lang="en-US"/>
              <a:t>Lakeshore Convention Center Expansion: Design Basis</a:t>
            </a:r>
          </a:p>
        </p:txBody>
      </p:sp>
    </p:spTree>
  </p:cSld>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p:sp>
        <p:nvSpPr>
          <p:cNvPr id="2" name="Shape 2"/>
          <p:cNvSpPr/>
          <p:nvPr>
            <p:ph type="title"/>
          </p:nvPr>
        </p:nvSpPr>
        <p:spPr>
          <a:xfrm>
            <a:off x="457200" y="365125"/>
            <a:ext cx="11277600" cy="914400"/>
          </a:xfrm>
          <a:prstGeom prst="rect">
            <a:avLst/>
          </a:prstGeom>
        </p:spPr>
        <p:txBody>
          <a:bodyPr wrap="square"/>
          <a:lstStyle/>
          <a:p>
            <a:r>
              <a:rPr lang="en-US"/>
              <a:t>1 Project Description</a:t>
            </a:r>
          </a:p>
        </p:txBody>
      </p:sp>
      <p:sp>
        <p:nvSpPr>
          <p:cNvPr id="3" name="Shape 3"/>
          <p:cNvSpPr/>
          <p:nvPr/>
        </p:nvSpPr>
        <p:spPr>
          <a:xfrm>
            <a:off x="457200" y="1371600"/>
            <a:ext cx="11277600" cy="4572000"/>
          </a:xfrm>
          <a:prstGeom prst="rect">
            <a:avLst/>
          </a:prstGeom>
        </p:spPr>
        <p:txBody>
          <a:bodyPr wrap="square"/>
          <a:lstStyle/>
          <a:p>
            <a:r>
              <a:rPr lang="en-US"/>
              <a:t>Hall C adds 117,736 ft² of exhibit floor under a 33 ft clear ceiling, for 12,919 occupants. Across the four halls, the total exhibit area becomes 584,880 ft².</a:t>
            </a:r>
          </a:p>
          <a:p>
            <a:r>
              <a:rPr lang="en-US"/>
              <a:t>The expansion occupies the former surface parking east of the existing building, between the lakefront promenade and the service road. Hall C connects to the existing concourse through a glazed link at the upper level, and its loading docks share the existing marshalling yard. The site slopes gently toward the lake, so the hall floor steps down from the concourse by a short ramp that meets accessibility guidance.</a:t>
            </a:r>
          </a:p>
          <a:p>
            <a:r>
              <a:rPr lang="en-US"/>
              <a:t>The program asks for column-free exhibit space that can be divided by operable walls, a block of flexible meeting rooms above the loading docks, and back-of-house corridors wide enough for forklifts. Food service is shared with the existing kitchens. Public circulation is kept on the lake side, where the façade is glazed and shaded by a deep roof overhang.</a:t>
            </a:r>
          </a:p>
        </p:txBody>
      </p:sp>
    </p:spTree>
  </p:cSld>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p:sp>
        <p:nvSpPr>
          <p:cNvPr id="2" name="Shape 2"/>
          <p:cNvSpPr/>
          <p:nvPr>
            <p:ph type="title"/>
          </p:nvPr>
        </p:nvSpPr>
        <p:spPr>
          <a:xfrm>
            <a:off x="457200" y="365125"/>
            <a:ext cx="11277600" cy="914400"/>
          </a:xfrm>
          <a:prstGeom prst="rect">
            <a:avLst/>
          </a:prstGeom>
        </p:spPr>
        <p:txBody>
          <a:bodyPr wrap="square"/>
          <a:lstStyle/>
          <a:p>
            <a:r>
              <a:rPr lang="en-US"/>
              <a:t>2 Design Criteria</a:t>
            </a:r>
          </a:p>
        </p:txBody>
      </p:sp>
      <p:sp>
        <p:nvSpPr>
          <p:cNvPr id="3" name="Shape 3"/>
          <p:cNvSpPr/>
          <p:nvPr/>
        </p:nvSpPr>
        <p:spPr>
          <a:xfrm>
            <a:off x="457200" y="1371600"/>
            <a:ext cx="11277600" cy="2743200"/>
          </a:xfrm>
          <a:prstGeom prst="rect">
            <a:avLst/>
          </a:prstGeom>
        </p:spPr>
        <p:txBody>
          <a:bodyPr wrap="square"/>
          <a:lstStyle/>
          <a:p>
            <a:r>
              <a:rPr lang="en-US"/>
              <a:t>Background noise in Hall C shall not exceed 38 dBA, and its floor shall carry a live load of no less than 376 psf. The existing roof is not rated for snow loads above 43 psf. Indoor conditions are held between 66 and 75 °F.</a:t>
            </a:r>
          </a:p>
          <a:p>
            <a:r>
              <a:rPr lang="en-US"/>
              <a:t>Criteria in this section govern the design of the new hall only. Where the existing building is affected, as at the roof of the glazed link, the existing documents govern unless this basis says otherwise. Acoustic criteria apply with the hall empty and all building systems running.</a:t>
            </a:r>
          </a:p>
        </p:txBody>
      </p:sp>
    </p:spTree>
  </p:cSld>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p:sp>
        <p:nvSpPr>
          <p:cNvPr id="2" name="Shape 2"/>
          <p:cNvSpPr/>
          <p:nvPr>
            <p:ph type="title"/>
          </p:nvPr>
        </p:nvSpPr>
        <p:spPr>
          <a:xfrm>
            <a:off x="457200" y="365125"/>
            <a:ext cx="11277600" cy="914400"/>
          </a:xfrm>
          <a:prstGeom prst="rect">
            <a:avLst/>
          </a:prstGeom>
        </p:spPr>
        <p:txBody>
          <a:bodyPr wrap="square"/>
          <a:lstStyle/>
          <a:p>
            <a:r>
              <a:rPr lang="en-US"/>
              <a:t>3 Mechanical</a:t>
            </a:r>
          </a:p>
        </p:txBody>
      </p:sp>
      <p:sp>
        <p:nvSpPr>
          <p:cNvPr id="3" name="Shape 3"/>
          <p:cNvSpPr/>
          <p:nvPr/>
        </p:nvSpPr>
        <p:spPr>
          <a:xfrm>
            <a:off x="457200" y="1371600"/>
            <a:ext cx="11277600" cy="3200400"/>
          </a:xfrm>
          <a:prstGeom prst="rect">
            <a:avLst/>
          </a:prstGeom>
        </p:spPr>
        <p:txBody>
          <a:bodyPr wrap="square"/>
          <a:lstStyle/>
          <a:p>
            <a:r>
              <a:rPr lang="en-US"/>
              <a:t>The mechanical design favours few large air handling units on the roof, with ducts dropped through the long-span trusses. Units are sized for a full hall on a design summer day, with outdoor air set by occupancy sensors so that the units turn down when the hall is lightly used.</a:t>
            </a:r>
          </a:p>
          <a:p>
            <a:r>
              <a:rPr lang="en-US"/>
              <a:t>Air handling units (AHUs) serve the hall. 59,045 cfm comes from AHU-3, whose supply fan is driven by a 124 hp motor.</a:t>
            </a:r>
          </a:p>
          <a:p>
            <a:r>
              <a:rPr lang="en-US"/>
              <a:t>All units report to the existing building automation system. Sequences are written so that one unit can be taken out of service for maintenance during move-in days without losing the hall.</a:t>
            </a:r>
          </a:p>
        </p:txBody>
      </p:sp>
    </p:spTree>
  </p:cSld>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p:sp>
        <p:nvSpPr>
          <p:cNvPr id="2" name="Shape 2"/>
          <p:cNvSpPr/>
          <p:nvPr>
            <p:ph type="title"/>
          </p:nvPr>
        </p:nvSpPr>
        <p:spPr>
          <a:xfrm>
            <a:off x="457200" y="365125"/>
            <a:ext cx="11277600" cy="914400"/>
          </a:xfrm>
          <a:prstGeom prst="rect">
            <a:avLst/>
          </a:prstGeom>
        </p:spPr>
        <p:txBody>
          <a:bodyPr wrap="square"/>
          <a:lstStyle/>
          <a:p>
            <a:r>
              <a:rPr lang="en-US"/>
              <a:t>4 Cooling Options</a:t>
            </a:r>
          </a:p>
        </p:txBody>
      </p:sp>
      <p:sp>
        <p:nvSpPr>
          <p:cNvPr id="3" name="Shape 3"/>
          <p:cNvSpPr/>
          <p:nvPr/>
        </p:nvSpPr>
        <p:spPr>
          <a:xfrm>
            <a:off x="457200" y="1371600"/>
            <a:ext cx="11277600" cy="2743200"/>
          </a:xfrm>
          <a:prstGeom prst="rect">
            <a:avLst/>
          </a:prstGeom>
        </p:spPr>
        <p:txBody>
          <a:bodyPr wrap="square"/>
          <a:lstStyle/>
          <a:p>
            <a:r>
              <a:rPr lang="en-US"/>
              <a:t>Two cooling approaches were compared for the exhibit floor. Both use the existing central plant, extended with new chillers in the plant's spare bay.</a:t>
            </a:r>
          </a:p>
          <a:p>
            <a:r>
              <a:rPr lang="en-US"/>
              <a:t>With chilled beams the peak cooling load drops to 818 tons, against 1,067 tons for the VAV baseline, though their first cost of $21.3M exceeds the baseline's $9.4M.</a:t>
            </a:r>
          </a:p>
          <a:p>
            <a:r>
              <a:rPr lang="en-US"/>
              <a:t>The design team recommends the chilled beam option for its lower plant load and quieter operation, subject to the owner's review of the first cost. A final choice is due at the end of schematic design.</a:t>
            </a:r>
          </a:p>
        </p:txBody>
      </p:sp>
    </p:spTree>
  </p:cSld>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p:sp>
        <p:nvSpPr>
          <p:cNvPr id="2" name="Shape 2"/>
          <p:cNvSpPr/>
          <p:nvPr>
            <p:ph type="title"/>
          </p:nvPr>
        </p:nvSpPr>
        <p:spPr>
          <a:xfrm>
            <a:off x="457200" y="365125"/>
            <a:ext cx="11277600" cy="914400"/>
          </a:xfrm>
          <a:prstGeom prst="rect">
            <a:avLst/>
          </a:prstGeom>
        </p:spPr>
        <p:txBody>
          <a:bodyPr wrap="square"/>
          <a:lstStyle/>
          <a:p>
            <a:r>
              <a:rPr lang="en-US"/>
              <a:t>5 Meeting Rooms</a:t>
            </a:r>
          </a:p>
        </p:txBody>
      </p:sp>
      <p:sp>
        <p:nvSpPr>
          <p:cNvPr id="3" name="Shape 3"/>
          <p:cNvSpPr/>
          <p:nvPr/>
        </p:nvSpPr>
        <p:spPr>
          <a:xfrm>
            <a:off x="457200" y="1371600"/>
            <a:ext cx="11277600" cy="914400"/>
          </a:xfrm>
          <a:prstGeom prst="rect">
            <a:avLst/>
          </a:prstGeom>
        </p:spPr>
        <p:txBody>
          <a:bodyPr wrap="square"/>
          <a:lstStyle/>
          <a:p>
            <a:r>
              <a:rPr lang="en-US"/>
              <a:t>The meeting rooms sit on a mezzanine above the loading docks, reached from the concourse by stairs and two passenger lifts. Rooms can be combined in pairs.</a:t>
            </a:r>
          </a:p>
        </p:txBody>
      </p:sp>
      <p:sp>
        <p:nvSpPr>
          <p:cNvPr id="4" name="Shape 4"/>
          <p:cNvSpPr/>
          <p:nvPr/>
        </p:nvSpPr>
        <p:spPr>
          <a:xfrm>
            <a:off x="457200" y="2377440"/>
            <a:ext cx="11277600" cy="457200"/>
          </a:xfrm>
          <a:prstGeom prst="rect">
            <a:avLst/>
          </a:prstGeom>
        </p:spPr>
        <p:txBody>
          <a:bodyPr wrap="square"/>
          <a:lstStyle/>
          <a:p>
            <a:r>
              <a:rPr lang="en-US"/>
              <a:t>Table 1. Meeting rooms in Hall C</a:t>
            </a:r>
          </a:p>
        </p:txBody>
      </p:sp>
      <p:graphicFrame>
        <p:nvGraphicFramePr>
          <p:cNvPr id="5" name="Table 5"/>
          <p:cNvGraphicFramePr/>
          <p:nvPr/>
        </p:nvGraphicFramePr>
        <p:xfrm>
          <a:off x="457200" y="2926080"/>
          <a:ext cx="11277600" cy="1854200"/>
        </p:xfrm>
        <a:graphic>
          <a:graphicData uri="http://schemas.openxmlformats.org/drawingml/2006/table">
            <a:tbl>
              <a:tblPr firstRow="1" bandRow="1"/>
              <a:tblGrid>
                <a:gridCol w="3759200"/>
                <a:gridCol w="3759200"/>
                <a:gridCol w="3759200"/>
              </a:tblGrid>
              <a:tr h="370840">
                <a:tc>
                  <a:txBody>
                    <a:bodyPr/>
                    <a:lstStyle/>
                    <a:p>
                      <a:r>
                        <a:rPr lang="en-US"/>
                        <a:t>Room</a:t>
                      </a:r>
                    </a:p>
                  </a:txBody>
                  <a:tcPr/>
                </a:tc>
                <a:tc>
                  <a:txBody>
                    <a:bodyPr/>
                    <a:lstStyle/>
                    <a:p>
                      <a:r>
                        <a:rPr lang="en-US"/>
                        <a:t>Seated capacity</a:t>
                      </a:r>
                    </a:p>
                  </a:txBody>
                  <a:tcPr/>
                </a:tc>
                <a:tc>
                  <a:txBody>
                    <a:bodyPr/>
                    <a:lstStyle/>
                    <a:p>
                      <a:r>
                        <a:rPr lang="en-US"/>
                        <a:t>Area (ft²)</a:t>
                      </a:r>
                    </a:p>
                  </a:txBody>
                  <a:tcPr/>
                </a:tc>
              </a:tr>
              <a:tr h="370840">
                <a:tc>
                  <a:txBody>
                    <a:bodyPr/>
                    <a:lstStyle/>
                    <a:p>
                      <a:r>
                        <a:rPr lang="en-US"/>
                        <a:t>Room 101</a:t>
                      </a:r>
                    </a:p>
                  </a:txBody>
                  <a:tcPr/>
                </a:tc>
                <a:tc>
                  <a:txBody>
                    <a:bodyPr/>
                    <a:lstStyle/>
                    <a:p>
                      <a:r>
                        <a:rPr lang="en-US"/>
                        <a:t>85</a:t>
                      </a:r>
                    </a:p>
                  </a:txBody>
                  <a:tcPr/>
                </a:tc>
                <a:tc>
                  <a:txBody>
                    <a:bodyPr/>
                    <a:lstStyle/>
                    <a:p>
                      <a:r>
                        <a:rPr lang="en-US"/>
                        <a:t>4,375</a:t>
                      </a:r>
                    </a:p>
                  </a:txBody>
                  <a:tcPr/>
                </a:tc>
              </a:tr>
              <a:tr h="370840">
                <a:tc>
                  <a:txBody>
                    <a:bodyPr/>
                    <a:lstStyle/>
                    <a:p>
                      <a:r>
                        <a:rPr lang="en-US"/>
                        <a:t>Room 102</a:t>
                      </a:r>
                    </a:p>
                  </a:txBody>
                  <a:tcPr/>
                </a:tc>
                <a:tc>
                  <a:txBody>
                    <a:bodyPr/>
                    <a:lstStyle/>
                    <a:p>
                      <a:r>
                        <a:rPr lang="en-US"/>
                        <a:t>415</a:t>
                      </a:r>
                    </a:p>
                  </a:txBody>
                  <a:tcPr/>
                </a:tc>
                <a:tc>
                  <a:txBody>
                    <a:bodyPr/>
                    <a:lstStyle/>
                    <a:p>
                      <a:r>
                        <a:rPr lang="en-US"/>
                        <a:t>4,348</a:t>
                      </a:r>
                    </a:p>
                  </a:txBody>
                  <a:tcPr/>
                </a:tc>
              </a:tr>
              <a:tr h="370840">
                <a:tc>
                  <a:txBody>
                    <a:bodyPr/>
                    <a:lstStyle/>
                    <a:p>
                      <a:r>
                        <a:rPr lang="en-US"/>
                        <a:t>Room 103</a:t>
                      </a:r>
                    </a:p>
                  </a:txBody>
                  <a:tcPr/>
                </a:tc>
                <a:tc>
                  <a:txBody>
                    <a:bodyPr/>
                    <a:lstStyle/>
                    <a:p>
                      <a:r>
                        <a:rPr lang="en-US"/>
                        <a:t>357</a:t>
                      </a:r>
                    </a:p>
                  </a:txBody>
                  <a:tcPr/>
                </a:tc>
                <a:tc>
                  <a:txBody>
                    <a:bodyPr/>
                    <a:lstStyle/>
                    <a:p>
                      <a:r>
                        <a:rPr lang="en-US"/>
                        <a:t>2,576</a:t>
                      </a:r>
                    </a:p>
                  </a:txBody>
                  <a:tcPr/>
                </a:tc>
              </a:tr>
              <a:tr h="370840">
                <a:tc>
                  <a:txBody>
                    <a:bodyPr/>
                    <a:lstStyle/>
                    <a:p>
                      <a:r>
                        <a:rPr lang="en-US"/>
                        <a:t>Room 105</a:t>
                      </a:r>
                    </a:p>
                  </a:txBody>
                  <a:tcPr/>
                </a:tc>
                <a:tc>
                  <a:txBody>
                    <a:bodyPr/>
                    <a:lstStyle/>
                    <a:p>
                      <a:r>
                        <a:rPr lang="en-US"/>
                        <a:t>402</a:t>
                      </a:r>
                    </a:p>
                  </a:txBody>
                  <a:tcPr/>
                </a:tc>
                <a:tc>
                  <a:txBody>
                    <a:bodyPr/>
                    <a:lstStyle/>
                    <a:p>
                      <a:r>
                        <a:rPr lang="en-US"/>
                        <a:t>2,597</a:t>
                      </a:r>
                    </a:p>
                  </a:txBody>
                  <a:tcPr/>
                </a:tc>
              </a:tr>
            </a:tbl>
          </a:graphicData>
        </a:graphic>
      </p:graphicFrame>
    </p:spTree>
  </p:cSld>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p:sp>
        <p:nvSpPr>
          <p:cNvPr id="2" name="Shape 2"/>
          <p:cNvSpPr/>
          <p:nvPr>
            <p:ph type="title"/>
          </p:nvPr>
        </p:nvSpPr>
        <p:spPr>
          <a:xfrm>
            <a:off x="457200" y="365125"/>
            <a:ext cx="11277600" cy="914400"/>
          </a:xfrm>
          <a:prstGeom prst="rect">
            <a:avLst/>
          </a:prstGeom>
        </p:spPr>
        <p:txBody>
          <a:bodyPr wrap="square"/>
          <a:lstStyle/>
          <a:p>
            <a:r>
              <a:rPr lang="en-US"/>
              <a:t>6 Construction Phasing</a:t>
            </a:r>
          </a:p>
        </p:txBody>
      </p:sp>
      <p:sp>
        <p:nvSpPr>
          <p:cNvPr id="3" name="Shape 3"/>
          <p:cNvSpPr/>
          <p:nvPr/>
        </p:nvSpPr>
        <p:spPr>
          <a:xfrm>
            <a:off x="457200" y="1371600"/>
            <a:ext cx="11277600" cy="1371600"/>
          </a:xfrm>
          <a:prstGeom prst="rect">
            <a:avLst/>
          </a:prstGeom>
        </p:spPr>
        <p:txBody>
          <a:bodyPr wrap="square"/>
          <a:lstStyle/>
          <a:p>
            <a:r>
              <a:rPr lang="en-US"/>
              <a:t>Construction proceeds while the existing halls stay open. The glazed link is built last, behind a temporary wall, so that events in the existing halls are not disturbed. Noisy work is scheduled outside show hours, and deliveries use the service road only.</a:t>
            </a:r>
          </a:p>
        </p:txBody>
      </p:sp>
    </p:spTree>
  </p:cSld>
</p:sld>
</file>