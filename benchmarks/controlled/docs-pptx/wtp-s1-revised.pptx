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emf" ContentType="image/x-emf"/>
  <Default Extension="jpeg" ContentType="image/jpeg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1"/>
    <p:sldId id="257" r:id="rId2"/>
    <p:sldId id="258" r:id="rId3"/>
    <p:sldId id="259" r:id="rId4"/>
    <p:sldId id="260" r:id="rId5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/Relationships>
</file>

<file path=ppt/slides/_rels/slide1.xml.rels><?xml version="1.0" encoding="UTF-8" standalone="yes"?>
<Relationships xmlns="http://schemas.openxmlformats.org/package/2006/relationships"></Relationships>
</file>

<file path=ppt/slides/_rels/slide2.xml.rels><?xml version="1.0" encoding="UTF-8" standalone="yes"?>
<Relationships xmlns="http://schemas.openxmlformats.org/package/2006/relationships"></Relationships>
</file>

<file path=ppt/slides/_rels/slide3.xml.rels><?xml version="1.0" encoding="UTF-8" standalone="yes"?>
<Relationships xmlns="http://schemas.openxmlformats.org/package/2006/relationships"></Relationships>
</file>

<file path=ppt/slides/_rels/slide4.xml.rels><?xml version="1.0" encoding="UTF-8" standalone="yes"?>
<Relationships xmlns="http://schemas.openxmlformats.org/package/2006/relationships"></Relationships>
</file>

<file path=ppt/slides/_rels/slide5.xml.rels><?xml version="1.0" encoding="UTF-8" standalone="yes"?>
<Relationships xmlns="http://schemas.openxmlformats.org/package/2006/relationships"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Harrow Creek Water Treatment Plant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1 Design Basis</a:t>
            </a:r>
          </a:p>
        </p:txBody>
      </p:sp>
      <p:sp>
        <p:nvSpPr>
          <p:cNvPr id="3" name="Shape 3"/>
          <p:cNvSpPr/>
          <p:nvPr/>
        </p:nvSpPr>
        <p:spPr>
          <a:xfrm>
            <a:off x="457200" y="1371600"/>
            <a:ext cx="11277600" cy="18288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The Harrow Creek Water Treatment Plant is sized for a design flow of 24.2 MGD (average day) and a peak flow of 42.2 MGD on the maximum day, serving a population of 42,680 persons.</a:t>
            </a:r>
          </a:p>
          <a:p>
            <a:r>
              <a:rPr lang="en-US"/>
              <a:t>Measured over five years, the 95th percentile raw water turbidity is 37.6 NTU. Finished water turbidity shall not exceed 0.23 NTU in 95% of monthly samples.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2 Treatment Process</a:t>
            </a:r>
          </a:p>
        </p:txBody>
      </p:sp>
      <p:sp>
        <p:nvSpPr>
          <p:cNvPr id="3" name="Shape 3"/>
          <p:cNvSpPr/>
          <p:nvPr/>
        </p:nvSpPr>
        <p:spPr>
          <a:xfrm>
            <a:off x="457200" y="1371600"/>
            <a:ext cx="11277600" cy="27432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The rapid mix basin provides a detention time of 53 s at design flow, with a velocity gradient of 922 1/s. Flocculation follows in 4 stages, for a total detention time of 23.5 min at design flow.</a:t>
            </a:r>
          </a:p>
          <a:p>
            <a:r>
              <a:rPr lang="en-US"/>
              <a:t>There are 2 sedimentation basins, each 159 ft long and 47 ft wide, with a side water depth of 15.1 ft; the surface loading rate is 0.86 gpm/ft² at design flow.</a:t>
            </a:r>
          </a:p>
          <a:p>
            <a:r>
              <a:rPr lang="en-US"/>
              <a:t>Filtration uses 8 dual-media filters of 404 ft² each. With one filter out of service, the filtration rate is 4.1 gpm/ft².</a:t>
            </a:r>
          </a:p>
        </p:txBody>
      </p:sp>
      <p:sp>
        <p:nvSpPr>
          <p:cNvPr id="4" name="Shape 4"/>
          <p:cNvSpPr/>
          <p:nvPr/>
        </p:nvSpPr>
        <p:spPr>
          <a:xfrm>
            <a:off x="457200" y="4206240"/>
            <a:ext cx="11277600" cy="4572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Table 1. Raw water pumps</a:t>
            </a:r>
          </a:p>
        </p:txBody>
      </p:sp>
      <p:graphicFrame>
        <p:nvGraphicFramePr>
          <p:cNvPr id="5" name="Table 5"/>
          <p:cNvGraphicFramePr/>
          <p:nvPr/>
        </p:nvGraphicFramePr>
        <p:xfrm>
          <a:off x="457200" y="4754880"/>
          <a:ext cx="11277600" cy="1854200"/>
        </p:xfrm>
        <a:graphic>
          <a:graphicData uri="http://schemas.openxmlformats.org/drawingml/2006/table">
            <a:tbl>
              <a:tblPr firstRow="1" bandRow="1"/>
              <a:tblGrid>
                <a:gridCol w="2819400"/>
                <a:gridCol w="2819400"/>
                <a:gridCol w="2819400"/>
                <a:gridCol w="28194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Tag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Capacity (gpm)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TDH (ft)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Motor (hp)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P-101A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5,151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96.8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267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P-101B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5,473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64.9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139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P-101C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8,542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69.6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232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P-101D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8,958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258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3 Chemical Feed</a:t>
            </a:r>
          </a:p>
        </p:txBody>
      </p:sp>
      <p:sp>
        <p:nvSpPr>
          <p:cNvPr id="3" name="Shape 3"/>
          <p:cNvSpPr/>
          <p:nvPr/>
        </p:nvSpPr>
        <p:spPr>
          <a:xfrm>
            <a:off x="457200" y="1371600"/>
            <a:ext cx="11277600" cy="4572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Alum is dosed at 38.8 mg/L on the average day and up to 51.5 mg/L on the maximum day.</a:t>
            </a:r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4 Disinfection Options</a:t>
            </a:r>
          </a:p>
        </p:txBody>
      </p:sp>
      <p:sp>
        <p:nvSpPr>
          <p:cNvPr id="3" name="Shape 3"/>
          <p:cNvSpPr/>
          <p:nvPr/>
        </p:nvSpPr>
        <p:spPr>
          <a:xfrm>
            <a:off x="457200" y="1371600"/>
            <a:ext cx="11277600" cy="4572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Two options were compared for primary disinfection.</a:t>
            </a:r>
          </a:p>
        </p:txBody>
      </p:sp>
      <p:sp>
        <p:nvSpPr>
          <p:cNvPr id="4" name="Shape 4"/>
          <p:cNvSpPr/>
          <p:nvPr/>
        </p:nvSpPr>
        <p:spPr>
          <a:xfrm>
            <a:off x="457200" y="1920240"/>
            <a:ext cx="11277600" cy="4572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Table 2. Disinfection options</a:t>
            </a:r>
          </a:p>
        </p:txBody>
      </p:sp>
      <p:graphicFrame>
        <p:nvGraphicFramePr>
          <p:cNvPr id="5" name="Table 5"/>
          <p:cNvGraphicFramePr/>
          <p:nvPr/>
        </p:nvGraphicFramePr>
        <p:xfrm>
          <a:off x="457200" y="2468880"/>
          <a:ext cx="11277600" cy="1483360"/>
        </p:xfrm>
        <a:graphic>
          <a:graphicData uri="http://schemas.openxmlformats.org/drawingml/2006/table">
            <a:tbl>
              <a:tblPr firstRow="1" bandRow="1"/>
              <a:tblGrid>
                <a:gridCol w="3759200"/>
                <a:gridCol w="3759200"/>
                <a:gridCol w="37592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Option A: UV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Option B: chlorine contact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Capital cost ($M)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5.78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2.82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Annual energy use (MWh/yr)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n/a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Contact time at peak flow (min)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</p:sld>
</file>