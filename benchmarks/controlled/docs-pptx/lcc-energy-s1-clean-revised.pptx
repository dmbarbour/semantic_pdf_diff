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jpeg" ContentType="image/jpeg"/>
  <Default Extension="png" ContentType="image/png"/>
  <Default Extension="wmf" ContentType="image/x-wmf"/>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IdLst>
    <p:sldId id="256" r:id="rId1"/>
    <p:sldId id="257" r:id="rId2"/>
    <p:sldId id="258" r:id="rId3"/>
    <p:sldId id="259" r:id="rId4"/>
    <p:sldId id="260" r:id="rId5"/>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barChart>
        <c:barDir val="col"/>
        <c:grouping val="clustered"/>
        <c:varyColors val="0"/>
        <c:ser>
          <c:idx val="0"/>
          <c:order val="0"/>
          <c:tx>
            <c:strRef>
              <c:f>Sheet1!$B$1</c:f>
              <c:strCache>
                <c:ptCount val="1"/>
                <c:pt idx="0">
                  <c:v>Option 1, chilled beams</c:v>
                </c:pt>
              </c:strCache>
            </c:strRef>
          </c:tx>
          <c:cat>
            <c:strRef>
              <c:f>Sheet1!$A$2:$A$7</c:f>
              <c:strCache>
                <c:ptCount val="6"/>
                <c:pt idx="0">
                  <c:v>May</c:v>
                </c:pt>
                <c:pt idx="1">
                  <c:v>June</c:v>
                </c:pt>
                <c:pt idx="2">
                  <c:v>July</c:v>
                </c:pt>
                <c:pt idx="3">
                  <c:v>August</c:v>
                </c:pt>
                <c:pt idx="4">
                  <c:v>September</c:v>
                </c:pt>
                <c:pt idx="5">
                  <c:v>October</c:v>
                </c:pt>
              </c:strCache>
            </c:strRef>
          </c:cat>
          <c:val>
            <c:numRef>
              <c:f>Sheet1!$B$2:$B$7</c:f>
              <c:numCache>
                <c:formatCode>#,##0</c:formatCode>
                <c:ptCount val="6"/>
                <c:pt idx="0">
                  <c:v>150</c:v>
                </c:pt>
                <c:pt idx="1">
                  <c:v>300</c:v>
                </c:pt>
                <c:pt idx="2">
                  <c:v>425</c:v>
                </c:pt>
                <c:pt idx="3">
                  <c:v>350</c:v>
                </c:pt>
                <c:pt idx="4">
                  <c:v>250</c:v>
                </c:pt>
                <c:pt idx="5">
                  <c:v>125</c:v>
                </c:pt>
              </c:numCache>
            </c:numRef>
          </c:val>
        </c:ser>
        <c:ser>
          <c:idx val="1"/>
          <c:order val="1"/>
          <c:tx>
            <c:strRef>
              <c:f>Sheet1!$C$1</c:f>
              <c:strCache>
                <c:ptCount val="1"/>
                <c:pt idx="0">
                  <c:v>Option 2, VAV baseline</c:v>
                </c:pt>
              </c:strCache>
            </c:strRef>
          </c:tx>
          <c:cat>
            <c:strRef>
              <c:f>Sheet1!$A$2:$A$7</c:f>
              <c:strCache>
                <c:ptCount val="6"/>
                <c:pt idx="0">
                  <c:v>May</c:v>
                </c:pt>
                <c:pt idx="1">
                  <c:v>June</c:v>
                </c:pt>
                <c:pt idx="2">
                  <c:v>July</c:v>
                </c:pt>
                <c:pt idx="3">
                  <c:v>August</c:v>
                </c:pt>
                <c:pt idx="4">
                  <c:v>September</c:v>
                </c:pt>
                <c:pt idx="5">
                  <c:v>October</c:v>
                </c:pt>
              </c:strCache>
            </c:strRef>
          </c:cat>
          <c:val>
            <c:numRef>
              <c:f>Sheet1!$C$2:$C$7</c:f>
              <c:numCache>
                <c:formatCode>#,##0</c:formatCode>
                <c:ptCount val="6"/>
                <c:pt idx="0">
                  <c:v>225</c:v>
                </c:pt>
                <c:pt idx="1">
                  <c:v>325</c:v>
                </c:pt>
                <c:pt idx="2">
                  <c:v>500</c:v>
                </c:pt>
                <c:pt idx="3">
                  <c:v>550</c:v>
                </c:pt>
                <c:pt idx="4">
                  <c:v>400</c:v>
                </c:pt>
                <c:pt idx="5">
                  <c:v>175</c:v>
                </c:pt>
              </c:numCache>
            </c:numRef>
          </c:val>
        </c:ser>
        <c:axId val="1"/>
        <c:axId val="2"/>
      </c:barChart>
      <c:catAx>
        <c:axId val="1"/>
        <c:scaling>
          <c:orientation val="minMax"/>
        </c:scaling>
        <c:delete val="0"/>
        <c:axPos val="b"/>
        <c:numFmt formatCode="General" sourceLinked="1"/>
        <c:crossAx val="2"/>
      </c:catAx>
      <c:valAx>
        <c:axId val="2"/>
        <c:scaling>
          <c:orientation val="minMax"/>
        </c:scaling>
        <c:delete val="0"/>
        <c:axPos val="l"/>
        <c:majorGridlines/>
        <c:title>
          <c:tx>
            <c:rich>
              <a:bodyPr/>
              <a:p>
                <a:r>
                  <a:t>MWh</a:t>
                </a:r>
              </a:p>
            </c:rich>
          </c:tx>
          <c:overlay val="0"/>
        </c:title>
        <c:numFmt formatCode="#,##0" sourceLinked="1"/>
        <c:crossAx val="1"/>
        <c:crossBetween val="between"/>
      </c:valAx>
    </c:plotArea>
    <c:legend>
      <c:legendPos val="b"/>
      <c:overlay val="0"/>
    </c:legend>
    <c:plotVisOnly val="1"/>
  </c:chart>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barChart>
        <c:barDir val="col"/>
        <c:grouping val="clustered"/>
        <c:varyColors val="0"/>
        <c:ser>
          <c:idx val="0"/>
          <c:order val="0"/>
          <c:tx>
            <c:strRef>
              <c:f>Sheet1!$B$1</c:f>
              <c:strCache>
                <c:ptCount val="1"/>
                <c:pt idx="0">
                  <c:v>Option 1, chilled beams</c:v>
                </c:pt>
              </c:strCache>
            </c:strRef>
          </c:tx>
          <c:cat>
            <c:strRef>
              <c:f>Sheet1!$A$2:$A$6</c:f>
              <c:strCache>
                <c:ptCount val="5"/>
                <c:pt idx="0">
                  <c:v>Exhibit floor</c:v>
                </c:pt>
                <c:pt idx="1">
                  <c:v>Meeting rooms</c:v>
                </c:pt>
                <c:pt idx="2">
                  <c:v>Concourse</c:v>
                </c:pt>
                <c:pt idx="3">
                  <c:v>Kitchens</c:v>
                </c:pt>
                <c:pt idx="4">
                  <c:v>Loading docks</c:v>
                </c:pt>
              </c:strCache>
            </c:strRef>
          </c:cat>
          <c:val>
            <c:numRef>
              <c:f>Sheet1!$B$2:$B$6</c:f>
              <c:numCache>
                <c:formatCode>#,##0</c:formatCode>
                <c:ptCount val="5"/>
                <c:pt idx="0">
                  <c:v>170</c:v>
                </c:pt>
                <c:pt idx="1">
                  <c:v>100</c:v>
                </c:pt>
                <c:pt idx="2">
                  <c:v>60</c:v>
                </c:pt>
                <c:pt idx="3">
                  <c:v>50</c:v>
                </c:pt>
                <c:pt idx="4">
                  <c:v>20</c:v>
                </c:pt>
              </c:numCache>
            </c:numRef>
          </c:val>
        </c:ser>
        <c:axId val="1"/>
        <c:axId val="2"/>
      </c:barChart>
      <c:catAx>
        <c:axId val="1"/>
        <c:scaling>
          <c:orientation val="minMax"/>
        </c:scaling>
        <c:delete val="0"/>
        <c:axPos val="b"/>
        <c:numFmt formatCode="General" sourceLinked="1"/>
        <c:crossAx val="2"/>
      </c:catAx>
      <c:valAx>
        <c:axId val="2"/>
        <c:scaling>
          <c:orientation val="minMax"/>
        </c:scaling>
        <c:delete val="0"/>
        <c:axPos val="l"/>
        <c:majorGridlines/>
        <c:title>
          <c:tx>
            <c:rich>
              <a:bodyPr/>
              <a:p>
                <a:r>
                  <a:t>tons</a:t>
                </a:r>
              </a:p>
            </c:rich>
          </c:tx>
          <c:overlay val="0"/>
        </c:title>
        <c:numFmt formatCode="#,##0" sourceLinked="1"/>
        <c:crossAx val="1"/>
        <c:crossBetween val="between"/>
      </c:valAx>
    </c:plotArea>
    <c:plotVisOnly val="1"/>
  </c:chart>
</c:chartSpace>
</file>

<file path=ppt/slides/_rels/slide1.xml.rels><?xml version="1.0" encoding="UTF-8" standalone="yes"?>
<Relationships xmlns="http://schemas.openxmlformats.org/package/2006/relationships"></Relationships>
</file>

<file path=ppt/slides/_rels/slide2.xml.rels><?xml version="1.0" encoding="UTF-8" standalone="yes"?>
<Relationships xmlns="http://schemas.openxmlformats.org/package/2006/relationships"></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chart" Target="../charts/chart2.xml"/></Relationships>
</file>

<file path=ppt/slides/_rels/slide5.xml.rels><?xml version="1.0" encoding="UTF-8" standalone="yes"?>
<Relationships xmlns="http://schemas.openxmlformats.org/package/2006/relationships"></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Lakeshore Hall C: Cooling Energy Study</a:t>
            </a:r>
          </a:p>
        </p:txBody>
      </p:sp>
    </p:spTree>
  </p:cSl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1 Purpose</a:t>
            </a:r>
          </a:p>
        </p:txBody>
      </p:sp>
      <p:sp>
        <p:nvSpPr>
          <p:cNvPr id="3" name="Shape 3"/>
          <p:cNvSpPr/>
          <p:nvPr/>
        </p:nvSpPr>
        <p:spPr>
          <a:xfrm>
            <a:off x="457200" y="1371600"/>
            <a:ext cx="11277600" cy="1371600"/>
          </a:xfrm>
          <a:prstGeom prst="rect">
            <a:avLst/>
          </a:prstGeom>
        </p:spPr>
        <p:txBody>
          <a:bodyPr wrap="square"/>
          <a:lstStyle/>
          <a:p>
            <a:r>
              <a:rPr lang="en-US"/>
              <a:t>This study estimates the cooling energy of the two options compared in the design basis, to support the choice due at the end of schematic design. Both options were modelled with the same weather file, schedules and internal gains.</a:t>
            </a:r>
          </a:p>
        </p:txBody>
      </p:sp>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2 Monthly Cooling Energy</a:t>
            </a:r>
          </a:p>
        </p:txBody>
      </p:sp>
      <p:sp>
        <p:nvSpPr>
          <p:cNvPr id="3" name="Shape 3"/>
          <p:cNvSpPr/>
          <p:nvPr/>
        </p:nvSpPr>
        <p:spPr>
          <a:xfrm>
            <a:off x="457200" y="1371600"/>
            <a:ext cx="11277600" cy="914400"/>
          </a:xfrm>
          <a:prstGeom prst="rect">
            <a:avLst/>
          </a:prstGeom>
        </p:spPr>
        <p:txBody>
          <a:bodyPr wrap="square"/>
          <a:lstStyle/>
          <a:p>
            <a:r>
              <a:rPr lang="en-US"/>
              <a:t>Figure 1 compares the two cooling options month by month over the cooling season, from May to October. Over the season, chilled beams use 1,600 MWh of cooling energy against 2,175 MWh for the VAV baseline.</a:t>
            </a:r>
          </a:p>
        </p:txBody>
      </p:sp>
      <p:graphicFrame>
        <p:nvGraphicFramePr>
          <p:cNvPr id="4" name="Chart 4"/>
          <p:cNvGraphicFramePr/>
          <p:nvPr/>
        </p:nvGraphicFramePr>
        <p:xfrm>
          <a:off x="457200" y="2377440"/>
          <a:ext cx="11277600" cy="3200400"/>
        </p:xfrm>
        <a:graphic>
          <a:graphicData uri="http://schemas.openxmlformats.org/drawingml/2006/chart">
            <c:chart xmlns:c="http://schemas.openxmlformats.org/drawingml/2006/chart" r:id="rId1"/>
          </a:graphicData>
        </a:graphic>
      </p:graphicFrame>
      <p:sp>
        <p:nvSpPr>
          <p:cNvPr id="5" name="Shape 5"/>
          <p:cNvSpPr/>
          <p:nvPr/>
        </p:nvSpPr>
        <p:spPr>
          <a:xfrm>
            <a:off x="457200" y="5669280"/>
            <a:ext cx="11277600" cy="457200"/>
          </a:xfrm>
          <a:prstGeom prst="rect">
            <a:avLst/>
          </a:prstGeom>
        </p:spPr>
        <p:txBody>
          <a:bodyPr wrap="square"/>
          <a:lstStyle/>
          <a:p>
            <a:r>
              <a:rPr lang="en-US"/>
              <a:t>Figure 1. Monthly cooling energy, May to October</a:t>
            </a:r>
          </a:p>
        </p:txBody>
      </p:sp>
      <p:sp>
        <p:nvSpPr>
          <p:cNvPr id="6" name="Shape 6"/>
          <p:cNvSpPr/>
          <p:nvPr/>
        </p:nvSpPr>
        <p:spPr>
          <a:xfrm>
            <a:off x="457200" y="6217920"/>
            <a:ext cx="11277600" cy="914400"/>
          </a:xfrm>
          <a:prstGeom prst="rect">
            <a:avLst/>
          </a:prstGeom>
        </p:spPr>
        <p:txBody>
          <a:bodyPr wrap="square"/>
          <a:lstStyle/>
          <a:p>
            <a:r>
              <a:rPr lang="en-US"/>
              <a:t>The difference is largest in the peak months, when the VAV baseline moves the most air to meet the hall's sensible load.</a:t>
            </a:r>
          </a:p>
        </p:txBody>
      </p:sp>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3 Peak Loads</a:t>
            </a:r>
          </a:p>
        </p:txBody>
      </p:sp>
      <p:sp>
        <p:nvSpPr>
          <p:cNvPr id="3" name="Shape 3"/>
          <p:cNvSpPr/>
          <p:nvPr/>
        </p:nvSpPr>
        <p:spPr>
          <a:xfrm>
            <a:off x="457200" y="1371600"/>
            <a:ext cx="11277600" cy="914400"/>
          </a:xfrm>
          <a:prstGeom prst="rect">
            <a:avLst/>
          </a:prstGeom>
        </p:spPr>
        <p:txBody>
          <a:bodyPr wrap="square"/>
          <a:lstStyle/>
          <a:p>
            <a:r>
              <a:rPr lang="en-US"/>
              <a:t>Peak electrical demand for cooling is 978 kW with chilled beams and 1,395 kW with the VAV baseline. Figure 2 breaks the chilled beam design's peak cooling load down by zone.</a:t>
            </a:r>
          </a:p>
        </p:txBody>
      </p:sp>
      <p:graphicFrame>
        <p:nvGraphicFramePr>
          <p:cNvPr id="4" name="Chart 4"/>
          <p:cNvGraphicFramePr/>
          <p:nvPr/>
        </p:nvGraphicFramePr>
        <p:xfrm>
          <a:off x="457200" y="2377440"/>
          <a:ext cx="11277600" cy="3200400"/>
        </p:xfrm>
        <a:graphic>
          <a:graphicData uri="http://schemas.openxmlformats.org/drawingml/2006/chart">
            <c:chart xmlns:c="http://schemas.openxmlformats.org/drawingml/2006/chart" r:id="rId1"/>
          </a:graphicData>
        </a:graphic>
      </p:graphicFrame>
      <p:sp>
        <p:nvSpPr>
          <p:cNvPr id="5" name="Shape 5"/>
          <p:cNvSpPr/>
          <p:nvPr/>
        </p:nvSpPr>
        <p:spPr>
          <a:xfrm>
            <a:off x="457200" y="5669280"/>
            <a:ext cx="11277600" cy="457200"/>
          </a:xfrm>
          <a:prstGeom prst="rect">
            <a:avLst/>
          </a:prstGeom>
        </p:spPr>
        <p:txBody>
          <a:bodyPr wrap="square"/>
          <a:lstStyle/>
          <a:p>
            <a:r>
              <a:rPr lang="en-US"/>
              <a:t>Figure 2. Peak cooling load by zone, chilled beam design</a:t>
            </a:r>
          </a:p>
        </p:txBody>
      </p:sp>
    </p:spTree>
  </p:cSl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4 Conclusions</a:t>
            </a:r>
          </a:p>
        </p:txBody>
      </p:sp>
      <p:sp>
        <p:nvSpPr>
          <p:cNvPr id="3" name="Shape 3"/>
          <p:cNvSpPr/>
          <p:nvPr/>
        </p:nvSpPr>
        <p:spPr>
          <a:xfrm>
            <a:off x="457200" y="1371600"/>
            <a:ext cx="11277600" cy="914400"/>
          </a:xfrm>
          <a:prstGeom prst="rect">
            <a:avLst/>
          </a:prstGeom>
        </p:spPr>
        <p:txBody>
          <a:bodyPr wrap="square"/>
          <a:lstStyle/>
          <a:p>
            <a:r>
              <a:rPr lang="en-US"/>
              <a:t>Chilled beams use less cooling energy in every month of the season. The saving should be weighed against their higher first cost, reported in the design basis.</a:t>
            </a:r>
          </a:p>
        </p:txBody>
      </p:sp>
    </p:spTree>
  </p:cSld>
</p:sld>
</file>