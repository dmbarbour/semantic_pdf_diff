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Water Treatment Plant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Abbreviations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A. Abbreviations</a:t>
            </a:r>
          </a:p>
        </p:txBody>
      </p:sp>
      <p:graphicFrame>
        <p:nvGraphicFramePr>
          <p:cNvPr id="4" name="Table 4"/>
          <p:cNvGraphicFramePr/>
          <p:nvPr/>
        </p:nvGraphicFramePr>
        <p:xfrm>
          <a:off x="457200" y="1920240"/>
          <a:ext cx="11277600" cy="445008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chlorine contact basin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dual-media filter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finished water turbidity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hydraulic detention time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rapid mix basin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raw water pump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sedimentation basin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surface loading rate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SWD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side water depth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TDH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total dynamic head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velocity gradient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Design Basis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Harrow Creek Water Treatment Plant is sized for a design flow of 25.9 MGD (average day) and a peak flow of 42.2 MGD on the maximum day, serving a population of 42,680 persons.</a:t>
            </a:r>
          </a:p>
          <a:p>
            <a:r>
              <a:rPr lang="en-US"/>
              <a:t>Measured over five years, the 95th percentile raw water turbidity is 37.6 NTU. FWT shall not exceed 0.23 NTU in 95% of monthly samples.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Treatment Process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2860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RMB provides an HDT of 52 s at design flow, with a VG of 922 1/s. Flocculation follows in 4 stages, for a total HDT of 23.5 min at design flow.</a:t>
            </a:r>
          </a:p>
          <a:p>
            <a:r>
              <a:rPr lang="en-US"/>
              <a:t>There are 2 SBs, each 159 ft long and 47 ft wide, with an SWD of 13.7 ft; the SLR is 0.86 gpm/ft² at design flow.</a:t>
            </a:r>
          </a:p>
          <a:p>
            <a:r>
              <a:rPr lang="en-US"/>
              <a:t>Filtration uses 8 DMFs of 404 ft² each. With one filter out of service, the filtration rate is 4.1 gpm/ft².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37490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RWPs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42976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Motor (hp)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Chemical Feed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Alum is dosed at 38.8 mg/L on the average day and up to 55.7 mg/L on the maximum day. Chlorine is fed at 3.3 mg/L ahead of the clearwell.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Disinfection Options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Two options were compared for primary disinfection.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Disinfection options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A: 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B: CCB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Capital cost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Annual energy use (MWh/yr)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Contact time at peak flow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