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emf" ContentType="image/x-emf"/>
  <Default Extension="jpeg" ContentType="image/jpeg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_rels/slide1.xml.rels><?xml version="1.0" encoding="UTF-8" standalone="yes"?>
<Relationships xmlns="http://schemas.openxmlformats.org/package/2006/relationships"></Relationships>
</file>

<file path=ppt/slides/_rels/slide2.xml.rels><?xml version="1.0" encoding="UTF-8" standalone="yes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Harrow Creek WTP: Equipment Schedules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1 Equipment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The schedules below list the plant's pumps, blowers and valves at their rated points.</a:t>
            </a:r>
          </a:p>
        </p:txBody>
      </p:sp>
      <p:sp>
        <p:nvSpPr>
          <p:cNvPr id="4" name="Shape 4"/>
          <p:cNvSpPr/>
          <p:nvPr/>
        </p:nvSpPr>
        <p:spPr>
          <a:xfrm>
            <a:off x="457200" y="192024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1a. Raw water pumps</a:t>
            </a:r>
          </a:p>
        </p:txBody>
      </p:sp>
      <p:graphicFrame>
        <p:nvGraphicFramePr>
          <p:cNvPr id="5" name="Table 5"/>
          <p:cNvGraphicFramePr/>
          <p:nvPr/>
        </p:nvGraphicFramePr>
        <p:xfrm>
          <a:off x="457200" y="2468880"/>
          <a:ext cx="11277600" cy="1483360"/>
        </p:xfrm>
        <a:graphic>
          <a:graphicData uri="http://schemas.openxmlformats.org/drawingml/2006/table">
            <a:tbl>
              <a:tblPr firstRow="1" bandRow="1"/>
              <a:tblGrid>
                <a:gridCol w="2255520"/>
                <a:gridCol w="2255520"/>
                <a:gridCol w="2255520"/>
                <a:gridCol w="2255520"/>
                <a:gridCol w="225552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Raw water pumps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Capacity (gpm)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TDH (ft)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Power (hp)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Speed (rpm)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P-101A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7,824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134.8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1,679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P-201B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8,837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1,160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P-101C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7,650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132.1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1,657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Shape 6"/>
          <p:cNvSpPr/>
          <p:nvPr/>
        </p:nvSpPr>
        <p:spPr>
          <a:xfrm>
            <a:off x="457200" y="404368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1b. Process air blowers</a:t>
            </a:r>
          </a:p>
        </p:txBody>
      </p:sp>
      <p:graphicFrame>
        <p:nvGraphicFramePr>
          <p:cNvPr id="7" name="Table 7"/>
          <p:cNvGraphicFramePr/>
          <p:nvPr/>
        </p:nvGraphicFramePr>
        <p:xfrm>
          <a:off x="457200" y="4592320"/>
          <a:ext cx="11277600" cy="1483360"/>
        </p:xfrm>
        <a:graphic>
          <a:graphicData uri="http://schemas.openxmlformats.org/drawingml/2006/table">
            <a:tbl>
              <a:tblPr firstRow="1" bandRow="1"/>
              <a:tblGrid>
                <a:gridCol w="2255520"/>
                <a:gridCol w="2255520"/>
                <a:gridCol w="2255520"/>
                <a:gridCol w="2255520"/>
                <a:gridCol w="225552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Process air blowers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Airflow (scfm)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Pressure (psig)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Power (hp)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Speed (rpm)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B-401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2,837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3,153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B-402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1,632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3,552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B-403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2,164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3,183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hape 8"/>
          <p:cNvSpPr/>
          <p:nvPr/>
        </p:nvSpPr>
        <p:spPr>
          <a:xfrm>
            <a:off x="457200" y="616712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2. Valve schedule</a:t>
            </a:r>
          </a:p>
        </p:txBody>
      </p:sp>
      <p:graphicFrame>
        <p:nvGraphicFramePr>
          <p:cNvPr id="9" name="Table 9"/>
          <p:cNvGraphicFramePr/>
          <p:nvPr/>
        </p:nvGraphicFramePr>
        <p:xfrm>
          <a:off x="457200" y="6715760"/>
          <a:ext cx="11277600" cy="7787640"/>
        </p:xfrm>
        <a:graphic>
          <a:graphicData uri="http://schemas.openxmlformats.org/drawingml/2006/table">
            <a:tbl>
              <a:tblPr firstRow="1" bandRow="1"/>
              <a:tblGrid>
                <a:gridCol w="2819400"/>
                <a:gridCol w="2819400"/>
                <a:gridCol w="2819400"/>
                <a:gridCol w="2819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Valves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Rating (psi)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Stroke time (s)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62.2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3,963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45.4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48.1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2,754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54.4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1,939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11.8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4,528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13.3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4,097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60.2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2,756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86.1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51.5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24.2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38.6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3,115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31.9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3,515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80.6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1,963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25.9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2,388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39.9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2,910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80.4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2,057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15.4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3,786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62.8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4,274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31.5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V-320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2,346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75.3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