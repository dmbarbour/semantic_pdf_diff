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substation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475</c:v>
                </c:pt>
                <c:pt idx="1">
                  <c:v>450</c:v>
                </c:pt>
                <c:pt idx="2">
                  <c:v>475</c:v>
                </c:pt>
                <c:pt idx="3">
                  <c:v>550</c:v>
                </c:pt>
                <c:pt idx="4">
                  <c:v>675</c:v>
                </c:pt>
                <c:pt idx="5">
                  <c:v>775</c:v>
                </c:pt>
                <c:pt idx="6">
                  <c:v>775</c:v>
                </c:pt>
                <c:pt idx="7">
                  <c:v>775</c:v>
                </c:pt>
                <c:pt idx="8">
                  <c:v>675</c:v>
                </c:pt>
                <c:pt idx="9">
                  <c:v>600</c:v>
                </c:pt>
                <c:pt idx="10">
                  <c:v>500</c:v>
                </c:pt>
                <c:pt idx="11">
                  <c:v>550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 substation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225</c:v>
                </c:pt>
                <c:pt idx="1">
                  <c:v>200</c:v>
                </c:pt>
                <c:pt idx="2">
                  <c:v>250</c:v>
                </c:pt>
                <c:pt idx="3">
                  <c:v>275</c:v>
                </c:pt>
                <c:pt idx="4">
                  <c:v>300</c:v>
                </c:pt>
                <c:pt idx="5">
                  <c:v>350</c:v>
                </c:pt>
                <c:pt idx="6">
                  <c:v>350</c:v>
                </c:pt>
                <c:pt idx="7">
                  <c:v>350</c:v>
                </c:pt>
                <c:pt idx="8">
                  <c:v>325</c:v>
                </c:pt>
                <c:pt idx="9">
                  <c:v>275</c:v>
                </c:pt>
                <c:pt idx="10">
                  <c:v>250</c:v>
                </c:pt>
                <c:pt idx="11">
                  <c:v>250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1"/>
        <c:crossAx val="2"/>
      </c:catAx>
      <c:valAx>
        <c:axId val="2"/>
        <c:scaling>
          <c:orientation val="minMax"/>
        </c:scaling>
        <c:delete val="0"/>
        <c:axPos val="l"/>
        <c:majorGridlines/>
        <c:title>
          <c:tx>
            <c:rich>
              <a:bodyPr/>
              <a:p>
                <a:r>
                  <a:t>MWh</a:t>
                </a:r>
              </a:p>
            </c:rich>
          </c:tx>
          <c:overlay val="0"/>
        </c:title>
        <c:numFmt formatCode="#,##0" sourceLinked="1"/>
        <c:crossAx val="1"/>
        <c:crossBetween val="between"/>
      </c:valAx>
    </c:plotArea>
    <c:legend>
      <c:legendPos val="b"/>
      <c:overlay val="0"/>
    </c:legend>
    <c:plotVisOnly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substation</c:v>
                </c:pt>
              </c:strCache>
            </c:strRef>
          </c:tx>
          <c:marker>
            <c:symbol val="circl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1750</c:v>
                </c:pt>
                <c:pt idx="1">
                  <c:v>1650</c:v>
                </c:pt>
                <c:pt idx="2">
                  <c:v>1750</c:v>
                </c:pt>
                <c:pt idx="3">
                  <c:v>1950</c:v>
                </c:pt>
                <c:pt idx="4">
                  <c:v>2050</c:v>
                </c:pt>
                <c:pt idx="5">
                  <c:v>2200</c:v>
                </c:pt>
                <c:pt idx="6">
                  <c:v>2250</c:v>
                </c:pt>
                <c:pt idx="7">
                  <c:v>2250</c:v>
                </c:pt>
                <c:pt idx="8">
                  <c:v>2150</c:v>
                </c:pt>
                <c:pt idx="9">
                  <c:v>1950</c:v>
                </c:pt>
                <c:pt idx="10">
                  <c:v>1700</c:v>
                </c:pt>
                <c:pt idx="11">
                  <c:v>1850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 substation</c:v>
                </c:pt>
              </c:strCache>
            </c:strRef>
          </c:tx>
          <c:marker>
            <c:symbol val="circle"/>
          </c:marker>
          <c:cat>
            <c:strRef>
              <c:f>Sheet1!$A$2:$A$13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850</c:v>
                </c:pt>
                <c:pt idx="1">
                  <c:v>850</c:v>
                </c:pt>
                <c:pt idx="2">
                  <c:v>850</c:v>
                </c:pt>
                <c:pt idx="3">
                  <c:v>950</c:v>
                </c:pt>
                <c:pt idx="4">
                  <c:v>1050</c:v>
                </c:pt>
                <c:pt idx="5">
                  <c:v>1050</c:v>
                </c:pt>
                <c:pt idx="6">
                  <c:v>1150</c:v>
                </c:pt>
                <c:pt idx="7">
                  <c:v>1150</c:v>
                </c:pt>
                <c:pt idx="8">
                  <c:v>1000</c:v>
                </c:pt>
                <c:pt idx="9">
                  <c:v>1000</c:v>
                </c:pt>
                <c:pt idx="10">
                  <c:v>850</c:v>
                </c:pt>
                <c:pt idx="11">
                  <c:v>900</c:v>
                </c:pt>
              </c:numCache>
            </c:numRef>
          </c:val>
        </c:ser>
        <c:marker val="1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1"/>
        <c:crossAx val="2"/>
      </c:catAx>
      <c:valAx>
        <c:axId val="2"/>
        <c:scaling>
          <c:orientation val="minMax"/>
        </c:scaling>
        <c:delete val="0"/>
        <c:axPos val="l"/>
        <c:majorGridlines/>
        <c:title>
          <c:tx>
            <c:rich>
              <a:bodyPr/>
              <a:p>
                <a:r>
                  <a:t>kW</a:t>
                </a:r>
              </a:p>
            </c:rich>
          </c:tx>
          <c:overlay val="0"/>
        </c:title>
        <c:numFmt formatCode="#,##0" sourceLinked="1"/>
        <c:crossAx val="1"/>
        <c:crossBetween val="between"/>
      </c:valAx>
    </c:plotArea>
    <c:legend>
      <c:legendPos val="b"/>
      <c:overlay val="0"/>
    </c:legend>
    <c:plotVisOnly val="1"/>
  </c:chart>
</c:chartSpace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chart" Target="../charts/chart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Lakeshore Convention Center: Metered Electricity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Electricity Use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Over the year the North substation delivered 7,275 MWh and the South substation 3,400 MWh. Figure 1 gives each substation's use month by month.</a:t>
            </a:r>
          </a:p>
        </p:txBody>
      </p:sp>
      <p:graphicFrame>
        <p:nvGraphicFramePr>
          <p:cNvPr id="4" name="Chart 4"/>
          <p:cNvGraphicFramePr/>
          <p:nvPr/>
        </p:nvGraphicFramePr>
        <p:xfrm>
          <a:off x="457200" y="2377440"/>
          <a:ext cx="112776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5"/>
          <p:cNvSpPr/>
          <p:nvPr/>
        </p:nvSpPr>
        <p:spPr>
          <a:xfrm>
            <a:off x="457200" y="566928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Figure 1. Monthly electricity use by substation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Peak Demand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utility contract caps the center's demand at 3,519 kW. Figure 2 gives each substation's peak demand in each month; the two peaks seldom fall in the same hour, so their sum overstates the center's.</a:t>
            </a:r>
          </a:p>
        </p:txBody>
      </p:sp>
      <p:graphicFrame>
        <p:nvGraphicFramePr>
          <p:cNvPr id="4" name="Chart 4"/>
          <p:cNvGraphicFramePr/>
          <p:nvPr/>
        </p:nvGraphicFramePr>
        <p:xfrm>
          <a:off x="457200" y="2377440"/>
          <a:ext cx="11277600" cy="320040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5"/>
          <p:cNvSpPr/>
          <p:nvPr/>
        </p:nvSpPr>
        <p:spPr>
          <a:xfrm>
            <a:off x="457200" y="566928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Figure 2. Monthly peak demand by substation</a:t>
            </a:r>
          </a:p>
        </p:txBody>
      </p:sp>
    </p:spTree>
  </p:cSld>
</p:sld>
</file>