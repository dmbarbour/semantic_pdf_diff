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emf" ContentType="image/x-emf"/>
  <Default Extension="jpeg" ContentType="image/jpeg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  <p:sldId id="258" r:id="rId3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Cooling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May</c:v>
                </c:pt>
                <c:pt idx="1">
                  <c:v>June</c:v>
                </c:pt>
                <c:pt idx="2">
                  <c:v>July</c:v>
                </c:pt>
                <c:pt idx="3">
                  <c:v>August</c:v>
                </c:pt>
                <c:pt idx="4">
                  <c:v>September</c:v>
                </c:pt>
                <c:pt idx="5">
                  <c:v>October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125</c:v>
                </c:pt>
                <c:pt idx="1">
                  <c:v>250</c:v>
                </c:pt>
                <c:pt idx="2">
                  <c:v>325</c:v>
                </c:pt>
                <c:pt idx="3">
                  <c:v>325</c:v>
                </c:pt>
                <c:pt idx="4">
                  <c:v>225</c:v>
                </c:pt>
                <c:pt idx="5">
                  <c:v>125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Fans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May</c:v>
                </c:pt>
                <c:pt idx="1">
                  <c:v>June</c:v>
                </c:pt>
                <c:pt idx="2">
                  <c:v>July</c:v>
                </c:pt>
                <c:pt idx="3">
                  <c:v>August</c:v>
                </c:pt>
                <c:pt idx="4">
                  <c:v>September</c:v>
                </c:pt>
                <c:pt idx="5">
                  <c:v>October</c:v>
                </c:pt>
              </c:strCache>
            </c:strRef>
          </c:cat>
          <c:val>
            <c:numRef>
              <c:f>Sheet1!$C$2:$C$7</c:f>
              <c:numCache>
                <c:formatCode>#,##0</c:formatCode>
                <c:ptCount val="6"/>
                <c:pt idx="0">
                  <c:v>50</c:v>
                </c:pt>
                <c:pt idx="1">
                  <c:v>50</c:v>
                </c:pt>
                <c:pt idx="2">
                  <c:v>100</c:v>
                </c:pt>
                <c:pt idx="3">
                  <c:v>75</c:v>
                </c:pt>
                <c:pt idx="4">
                  <c:v>50</c:v>
                </c:pt>
                <c:pt idx="5">
                  <c:v>25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Lighting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May</c:v>
                </c:pt>
                <c:pt idx="1">
                  <c:v>June</c:v>
                </c:pt>
                <c:pt idx="2">
                  <c:v>July</c:v>
                </c:pt>
                <c:pt idx="3">
                  <c:v>August</c:v>
                </c:pt>
                <c:pt idx="4">
                  <c:v>September</c:v>
                </c:pt>
                <c:pt idx="5">
                  <c:v>October</c:v>
                </c:pt>
              </c:strCache>
            </c:strRef>
          </c:cat>
          <c:val>
            <c:numRef>
              <c:f>Sheet1!$D$2:$D$7</c:f>
              <c:numCache>
                <c:formatCode>#,##0</c:formatCode>
                <c:ptCount val="6"/>
                <c:pt idx="0">
                  <c:v>25</c:v>
                </c:pt>
                <c:pt idx="1">
                  <c:v>25</c:v>
                </c:pt>
                <c:pt idx="2">
                  <c:v>50</c:v>
                </c:pt>
                <c:pt idx="3">
                  <c:v>50</c:v>
                </c:pt>
                <c:pt idx="4">
                  <c:v>25</c:v>
                </c:pt>
                <c:pt idx="5">
                  <c:v>25</c:v>
                </c:pt>
              </c:numCache>
            </c:numRef>
          </c:val>
        </c:ser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1"/>
        <c:crossAx val="2"/>
      </c:catAx>
      <c:valAx>
        <c:axId val="2"/>
        <c:scaling>
          <c:orientation val="minMax"/>
        </c:scaling>
        <c:delete val="0"/>
        <c:axPos val="l"/>
        <c:majorGridlines/>
        <c:title>
          <c:tx>
            <c:rich>
              <a:bodyPr/>
              <a:p>
                <a:r>
                  <a:t>MWh</a:t>
                </a:r>
              </a:p>
            </c:rich>
          </c:tx>
          <c:overlay val="0"/>
        </c:title>
        <c:numFmt formatCode="#,##0" sourceLinked="1"/>
        <c:crossAx val="1"/>
        <c:crossBetween val="between"/>
      </c:valAx>
    </c:plotArea>
    <c:legend>
      <c:legendPos val="b"/>
      <c:overlay val="0"/>
    </c:legend>
    <c:plotVisOnly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Option 1, chilled beams</c:v>
                </c:pt>
              </c:strCache>
            </c:strRef>
          </c:tx>
          <c:marker>
            <c:symbol val="circle"/>
          </c:marker>
          <c:cat>
            <c:strRef>
              <c:f>Sheet1!$A$2:$A$7</c:f>
              <c:strCache>
                <c:ptCount val="6"/>
                <c:pt idx="0">
                  <c:v>May</c:v>
                </c:pt>
                <c:pt idx="1">
                  <c:v>June</c:v>
                </c:pt>
                <c:pt idx="2">
                  <c:v>July</c:v>
                </c:pt>
                <c:pt idx="3">
                  <c:v>August</c:v>
                </c:pt>
                <c:pt idx="4">
                  <c:v>September</c:v>
                </c:pt>
                <c:pt idx="5">
                  <c:v>October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250</c:v>
                </c:pt>
                <c:pt idx="1">
                  <c:v>500</c:v>
                </c:pt>
                <c:pt idx="2">
                  <c:v>600</c:v>
                </c:pt>
                <c:pt idx="3">
                  <c:v>550</c:v>
                </c:pt>
                <c:pt idx="4">
                  <c:v>450</c:v>
                </c:pt>
                <c:pt idx="5">
                  <c:v>200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Option 2, VAV baseline</c:v>
                </c:pt>
              </c:strCache>
            </c:strRef>
          </c:tx>
          <c:marker>
            <c:symbol val="circle"/>
          </c:marker>
          <c:cat>
            <c:strRef>
              <c:f>Sheet1!$A$2:$A$7</c:f>
              <c:strCache>
                <c:ptCount val="6"/>
                <c:pt idx="0">
                  <c:v>May</c:v>
                </c:pt>
                <c:pt idx="1">
                  <c:v>June</c:v>
                </c:pt>
                <c:pt idx="2">
                  <c:v>July</c:v>
                </c:pt>
                <c:pt idx="3">
                  <c:v>August</c:v>
                </c:pt>
                <c:pt idx="4">
                  <c:v>September</c:v>
                </c:pt>
                <c:pt idx="5">
                  <c:v>October</c:v>
                </c:pt>
              </c:strCache>
            </c:strRef>
          </c:cat>
          <c:val>
            <c:numRef>
              <c:f>Sheet1!$C$2:$C$7</c:f>
              <c:numCache>
                <c:formatCode>#,##0</c:formatCode>
                <c:ptCount val="6"/>
                <c:pt idx="0">
                  <c:v>350</c:v>
                </c:pt>
                <c:pt idx="1">
                  <c:v>650</c:v>
                </c:pt>
                <c:pt idx="2">
                  <c:v>800</c:v>
                </c:pt>
                <c:pt idx="3">
                  <c:v>750</c:v>
                </c:pt>
                <c:pt idx="4">
                  <c:v>400</c:v>
                </c:pt>
                <c:pt idx="5">
                  <c:v>300</c:v>
                </c:pt>
              </c:numCache>
            </c:numRef>
          </c:val>
        </c:ser>
        <c:marker val="1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1"/>
        <c:crossAx val="2"/>
      </c:catAx>
      <c:valAx>
        <c:axId val="2"/>
        <c:scaling>
          <c:orientation val="minMax"/>
        </c:scaling>
        <c:delete val="0"/>
        <c:axPos val="l"/>
        <c:majorGridlines/>
        <c:title>
          <c:tx>
            <c:rich>
              <a:bodyPr/>
              <a:p>
                <a:r>
                  <a:t>tons</a:t>
                </a:r>
              </a:p>
            </c:rich>
          </c:tx>
          <c:overlay val="0"/>
        </c:title>
        <c:numFmt formatCode="#,##0" sourceLinked="1"/>
        <c:crossAx val="1"/>
        <c:crossBetween val="between"/>
      </c:valAx>
    </c:plotArea>
    <c:legend>
      <c:legendPos val="b"/>
      <c:overlay val="0"/>
    </c:legend>
    <c:plotVisOnly val="1"/>
  </c:chart>
</c:chartSpace>
</file>

<file path=ppt/slides/_rels/slide1.xml.rels><?xml version="1.0" encoding="UTF-8" standalone="yes"?>
<Relationships xmlns="http://schemas.openxmlformats.org/package/2006/relationships"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chart" Target="../charts/char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chart" Target="../charts/chart2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Lakeshore Hall C: Energy by End Use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1 Energy by End Use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Over the cooling season, Hall C's cooling uses 1,375 MWh, its fans 350 MWh and its lighting 200 MWh, as Figure 1 shows month by month. Figure 2 compares the two cooling options' peak loads.</a:t>
            </a:r>
          </a:p>
        </p:txBody>
      </p:sp>
      <p:graphicFrame>
        <p:nvGraphicFramePr>
          <p:cNvPr id="4" name="Chart 4"/>
          <p:cNvGraphicFramePr/>
          <p:nvPr/>
        </p:nvGraphicFramePr>
        <p:xfrm>
          <a:off x="457200" y="2377440"/>
          <a:ext cx="11277600" cy="32004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5"/>
          <p:cNvSpPr/>
          <p:nvPr/>
        </p:nvSpPr>
        <p:spPr>
          <a:xfrm>
            <a:off x="457200" y="566928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Figure 1. Hall C monthly energy by end use, May to October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2 Peak Loads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The two options' peak loads follow the season, rising to midsummer and falling after it.</a:t>
            </a:r>
          </a:p>
        </p:txBody>
      </p:sp>
      <p:graphicFrame>
        <p:nvGraphicFramePr>
          <p:cNvPr id="4" name="Chart 4"/>
          <p:cNvGraphicFramePr/>
          <p:nvPr/>
        </p:nvGraphicFramePr>
        <p:xfrm>
          <a:off x="457200" y="1920240"/>
          <a:ext cx="11277600" cy="32004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5"/>
          <p:cNvSpPr/>
          <p:nvPr/>
        </p:nvSpPr>
        <p:spPr>
          <a:xfrm>
            <a:off x="457200" y="521208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Figure 2. Monthly peak cooling load of the two options</a:t>
            </a:r>
          </a:p>
        </p:txBody>
      </p:sp>
    </p:spTree>
  </p:cSld>
</p:sld>
</file>